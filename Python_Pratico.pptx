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ECF0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423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728090"/>
                </a:solidFill>
              </a:rPr>
              <a:t>uma introdução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154680"/>
            <a:ext cx="4114800" cy="36576"/>
          </a:xfrm>
          <a:prstGeom prst="rect">
            <a:avLst/>
          </a:prstGeom>
          <a:solidFill>
            <a:srgbClr val="2E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3101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28090"/>
                </a:solidFill>
              </a:rPr>
              <a:t>variáveis  ·  tipos  ·  strings  ·  operadores  ·  condicionais  ·  loops  ·  listas  ·  tuplas  ·  dicionários  ·  funções  ·  lambda  ·  pandas  · 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9EB5"/>
                </a:solidFill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Por que Python?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86868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45720" cy="86868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338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CF0"/>
                </a:solidFill>
              </a:rPr>
              <a:t>Linguagem mais usada do mundo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28090"/>
                </a:solidFill>
              </a:rPr>
              <a:t>top 1 em praticamente todo ranking desde 2021. Não é hype, é mercado.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2"/>
            <a:ext cx="11430000" cy="86868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84832"/>
            <a:ext cx="45720" cy="86868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396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CF0"/>
                </a:solidFill>
              </a:rPr>
              <a:t>Sintaxe próxima do inglês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28090"/>
                </a:solidFill>
              </a:rPr>
              <a:t>menos cerimônia que Java ou C++. Você escreve o que pensa, sem declarar tipos.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90672"/>
            <a:ext cx="11430000" cy="86868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90672"/>
            <a:ext cx="45720" cy="86868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455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CF0"/>
                </a:solidFill>
              </a:rPr>
              <a:t>Uma linha resolve coisas que em C dariam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28090"/>
                </a:solidFill>
              </a:rPr>
              <a:t>leitura de arquivo, requisição HTTP, ordenação complexa — tudo curto.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96512"/>
            <a:ext cx="11430000" cy="86868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96512"/>
            <a:ext cx="45720" cy="86868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513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CF0"/>
                </a:solidFill>
              </a:rPr>
              <a:t>É a linguagem do ML /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28090"/>
                </a:solidFill>
              </a:rPr>
              <a:t>TensorFlow, PyTorch, scikit-learn, Pandas — tudo Python. Aprender Python é entrar nessa área.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02352"/>
            <a:ext cx="11430000" cy="86868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102352"/>
            <a:ext cx="45720" cy="86868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15721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CF0"/>
                </a:solidFill>
              </a:rPr>
              <a:t>Comunidade gigante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486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28090"/>
                </a:solidFill>
              </a:rPr>
              <a:t>qualquer erro que você tiver, alguém já resolveu e postou no Stack Overflow.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9EB5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Variáveis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28090"/>
                </a:solidFill>
              </a:rPr>
              <a:t>Variável é um nome que guarda um valor na memória. Python descobre o tipo sozinho.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852160" cy="502920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852160" cy="502920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54480"/>
            <a:ext cx="5559552" cy="4791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nome   = 'Ana'          # str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idade  = 17             # int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altura = 1.72           # float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ativo  = True           # bool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reatribuição — o tipo pode mudar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 = 10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 = 'agora sou texto'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atalhos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pontos  = 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pontos += 10            # pontos = pontos + 10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pontos -= 3             # pontos = pontos - 3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múltiplas variáveis de uma vez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a, b, c = 1, 2, 3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 = y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9875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CF0"/>
                </a:solidFill>
              </a:rPr>
              <a:t>Regras de nome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486400" cy="59436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45720" cy="594360"/>
          </a:xfrm>
          <a:prstGeom prst="rect">
            <a:avLst/>
          </a:prstGeom>
          <a:solidFill>
            <a:srgbClr val="4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✓  snake_case:  nome_completo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5486400" cy="59436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45720" cy="594360"/>
          </a:xfrm>
          <a:prstGeom prst="rect">
            <a:avLst/>
          </a:prstGeom>
          <a:solidFill>
            <a:srgbClr val="4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✓  pode ter número: x2, dado3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788920"/>
            <a:ext cx="5486400" cy="59436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788920"/>
            <a:ext cx="45720" cy="594360"/>
          </a:xfrm>
          <a:prstGeom prst="rect">
            <a:avLst/>
          </a:prstGeom>
          <a:solidFill>
            <a:srgbClr val="8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880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✗  não começa com número: 2x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474720"/>
            <a:ext cx="5486400" cy="59436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474720"/>
            <a:ext cx="45720" cy="594360"/>
          </a:xfrm>
          <a:prstGeom prst="rect">
            <a:avLst/>
          </a:prstGeom>
          <a:solidFill>
            <a:srgbClr val="8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566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✗  sem espaço: minha variavel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486400" cy="59436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160520"/>
            <a:ext cx="45720" cy="594360"/>
          </a:xfrm>
          <a:prstGeom prst="rect">
            <a:avLst/>
          </a:prstGeom>
          <a:solidFill>
            <a:srgbClr val="8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2519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✗  sem acento no nome: 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846320"/>
            <a:ext cx="5486400" cy="59436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846320"/>
            <a:ext cx="45720" cy="594360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9377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!   case-sensitive: Nome ≠ nome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532120"/>
            <a:ext cx="5486400" cy="59436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5532120"/>
            <a:ext cx="45720" cy="594360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6235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!   palavras reservadas: if, for,
    while, def, class…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4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8A6E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Tipos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28090"/>
                </a:solidFill>
              </a:rPr>
              <a:t>Python tem tipos, mas você não precisa declará-los. Use type() pra ver qual é.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788920" cy="155448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88920" cy="4572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9EB5"/>
                </a:solidFill>
              </a:rPr>
              <a:t>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8090"/>
                </a:solidFill>
              </a:rPr>
              <a:t>inteiro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42  |  -7  | 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417320"/>
            <a:ext cx="2788920" cy="155448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417320"/>
            <a:ext cx="2788920" cy="45720"/>
          </a:xfrm>
          <a:prstGeom prst="rect">
            <a:avLst/>
          </a:prstGeom>
          <a:solidFill>
            <a:srgbClr val="4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8A6E"/>
                </a:solidFill>
              </a:rPr>
              <a:t>float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87451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8090"/>
                </a:solidFill>
              </a:rPr>
              <a:t>decimal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762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3.14  |  -0.5  | 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417320"/>
            <a:ext cx="2788920" cy="155448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417320"/>
            <a:ext cx="2788920" cy="45720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6E3E"/>
                </a:solidFill>
              </a:rPr>
              <a:t>str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187451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8090"/>
                </a:solidFill>
              </a:rPr>
              <a:t>texto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1762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'oi'  |  "mundo"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1417320"/>
            <a:ext cx="2788920" cy="155448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1417320"/>
            <a:ext cx="2788920" cy="45720"/>
          </a:xfrm>
          <a:prstGeom prst="rect">
            <a:avLst/>
          </a:prstGeom>
          <a:solidFill>
            <a:srgbClr val="8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6024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4E4E"/>
                </a:solidFill>
              </a:rPr>
              <a:t>bool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187451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8090"/>
                </a:solidFill>
              </a:rPr>
              <a:t>verdadeiro/falso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1762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True  |  False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127248"/>
            <a:ext cx="11521440" cy="34747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127248"/>
            <a:ext cx="11521440" cy="34747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3264408"/>
            <a:ext cx="11228832" cy="3236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# verificando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print(type(42))           # &lt;class 'int'&gt;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print(type('oi'))         # &lt;class 'str'&gt;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print(isinstance(3.14, float))  # True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conversão entre tipos (casting)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numero  = int('42')       # '42' → 42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decimal = float('3.14')   # '3.14' → 3.14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texto   = str(100)        # 100 → '100'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logico  = bool(0)         # 0 → False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valores falsy: 0, 0.0, '', [], {}, None → False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todo o resto →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A6E3E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Strings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5852160" cy="5733288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87552"/>
            <a:ext cx="5852160" cy="5733288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24712"/>
            <a:ext cx="5559552" cy="5495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nome  = 'Python'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frase = "aprender é bom"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multi = """várias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 linhas"""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f-string — forma padrão de formatar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idade = 17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print(f'tenho {idade} anos')          # tenho 17 anos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print(f'daqui 5 anos: {idade + 5}')  # daqui 5 anos: 22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operações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print('Olá' + ' ' + 'mundo')   # Olá mundo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print('ha' * 3)                 # hahaha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print(len('Python'))            # 6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fatiamento — índice começa em 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s = 'Python'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print(s[0])      # P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print(s[-1])     # n  (último)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print(s[0:3])    # Pyt  (de 0 até &lt;3)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print(s[::-1])   # nohtyP  (invertido)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9875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CF0"/>
                </a:solidFill>
              </a:rPr>
              <a:t>Métodos principais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5486400" cy="493776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45720" cy="493776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4538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ECF0"/>
                </a:solidFill>
              </a:rPr>
              <a:t>.upper() / .lower()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67335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'abc'.upper() → 'ABC'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84248"/>
            <a:ext cx="5486400" cy="493776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984248"/>
            <a:ext cx="45720" cy="493776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0208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ECF0"/>
                </a:solidFill>
              </a:rPr>
              <a:t>.strip()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2402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remove espaços nas pontas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551176"/>
            <a:ext cx="5486400" cy="493776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551176"/>
            <a:ext cx="45720" cy="493776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5877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ECF0"/>
                </a:solidFill>
              </a:rPr>
              <a:t>.replace(a, 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80720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'oi'.replace('o','a') → 'ai'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118104"/>
            <a:ext cx="5486400" cy="493776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118104"/>
            <a:ext cx="45720" cy="493776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1546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ECF0"/>
                </a:solidFill>
              </a:rPr>
              <a:t>.split(sep)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37413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'a,b,c'.split(',') → ['a','b','c']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685032"/>
            <a:ext cx="5486400" cy="493776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685032"/>
            <a:ext cx="45720" cy="493776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372160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ECF0"/>
                </a:solidFill>
              </a:rPr>
              <a:t>.join(lista)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94106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','.join(['a','b']) → 'a,b'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51960"/>
            <a:ext cx="5486400" cy="493776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251960"/>
            <a:ext cx="45720" cy="493776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428853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ECF0"/>
                </a:solidFill>
              </a:rPr>
              <a:t>.find(sub)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50799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índice onde sub aparece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818888"/>
            <a:ext cx="5486400" cy="493776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818888"/>
            <a:ext cx="45720" cy="493776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85546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ECF0"/>
                </a:solidFill>
              </a:rPr>
              <a:t>.startswith(s)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50749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começa com s? True/False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385816"/>
            <a:ext cx="5486400" cy="493776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5385816"/>
            <a:ext cx="45720" cy="493776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542239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ECF0"/>
                </a:solidFill>
              </a:rPr>
              <a:t>.isdigit()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56418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só dígitos? True/False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952744"/>
            <a:ext cx="5486400" cy="493776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5952744"/>
            <a:ext cx="45720" cy="493776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59893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ECF0"/>
                </a:solidFill>
              </a:rPr>
              <a:t>.count(sub)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620877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quantas vezes sub aparece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8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A4E4E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Operadores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3840480" cy="306324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87552"/>
            <a:ext cx="3840480" cy="306324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24712"/>
            <a:ext cx="3547872" cy="2825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# aritméticos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a, b = 10, 3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 + b    # 13   adição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 - b    # 7    subtração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 * b    # 30   multiplicação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 / b    # 3.33 divisão real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 // b   # 3    divisão inteira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 % b    # 1    resto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 ** b   # 1000 potência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987552"/>
            <a:ext cx="3840480" cy="306324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987552"/>
            <a:ext cx="3840480" cy="306324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124712"/>
            <a:ext cx="3547872" cy="2825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# comparação — retorna bool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 = 5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 == 5   # True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 != 3   # True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 &gt; 3    # True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 &lt; 10   # True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 &gt;= 5   # True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 &lt;= 4   # False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987552"/>
            <a:ext cx="3657600" cy="306324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987552"/>
            <a:ext cx="3657600" cy="306324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124712"/>
            <a:ext cx="3364992" cy="2825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# lógicos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True and False  # False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True or  False  # True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not True        # False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in / not in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3 in [1,2,3]    # True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'a' in 'abc'    #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1605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28090"/>
                </a:solidFill>
              </a:rPr>
              <a:t>Precedência — o que roda primeiro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590288"/>
            <a:ext cx="11521440" cy="2084831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590288"/>
            <a:ext cx="11521440" cy="2084831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727448"/>
            <a:ext cx="11228832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2 + 3 * 4      # 14  (não 20!  *  antes de  +)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(2 + 3) * 4    # 20  (parênteses sempre primeiro)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10 % 3 + 1     # 2   (% antes de +)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not True or False   # False  (not antes de 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6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E5A8A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Condicionais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28090"/>
                </a:solidFill>
              </a:rPr>
              <a:t>A indentação (4 espaços) define o bloco — não existe { } em Python.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303520" cy="352044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5303520" cy="352044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27048"/>
            <a:ext cx="5010912" cy="3282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nota = float(input('nota: '))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if nota &gt;= 9: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print('ótimo')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elif nota &gt;= 7: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print('aprovado')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elif nota &gt;= 5: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print('recuperação')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else: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print('reprovado')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389888"/>
            <a:ext cx="6035040" cy="53035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389888"/>
            <a:ext cx="6035040" cy="53035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527048"/>
            <a:ext cx="5742431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# input() lê do teclado — sempre retorna str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nome  = input('seu nome: 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idade = int(input('sua idade: '))  # converte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ternário — if em uma linha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status = 'maior' if idade &gt;= 18 else 'menor'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operador in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vogais = 'aeiou'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letra  = 'a'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if letra in vogais: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print(f'{letra} é vogal')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múltiplas condições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if idade &gt;= 18 and nome != '':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print('pode cadastrar')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029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4E4E"/>
                </a:solidFill>
              </a:rPr>
              <a:t>Cuidado com indentação errada — o erro mais comum de iniciante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413248"/>
            <a:ext cx="5303520" cy="128016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5413248"/>
            <a:ext cx="5303520" cy="128016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5550408"/>
            <a:ext cx="5010912" cy="1042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if True: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print('erro!')   # IndentationError — faltou o recuo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9EB5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5852160" cy="5733288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87552"/>
            <a:ext cx="5852160" cy="5733288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24712"/>
            <a:ext cx="5559552" cy="5495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# for + range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for i in range(5):          # 0 1 2 3 4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print(i)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for i in range(1, 11):      # 1 até 10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print(i)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for i in range(0, 20, 2):   # 0 2 4 6 … 18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print(i)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percorrendo lista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frutas = ['maçã', 'banana', 'uva']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for fruta in frutas: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print(fruta)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enumerate — índice + valor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for i, fruta in enumerate(frutas):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print(i, fruta)         # 0 maçã  1 banana 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987552"/>
            <a:ext cx="5486400" cy="5733288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987552"/>
            <a:ext cx="5486400" cy="5733288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124712"/>
            <a:ext cx="5193792" cy="5495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# while — repete enquanto a condição for True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contador = 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while contador &lt; 5: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print(contador)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contador += 1      # SEMPRE atualize — senão loop infinito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break e continue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for i in range(10):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if i == 3: continue    # pula o 3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if i == 7: break       # para no 7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print(i)               # 0 1 2 4 5 6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while com validação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while True: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senha = input('senha: 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if senha == '1234':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print('ok')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break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print('errada, tente de novo')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4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8A6E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Listas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28090"/>
                </a:solidFill>
              </a:rPr>
              <a:t>Lista é ordenada, mutável e aceita qualquer tipo — inclusive misturado.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852160" cy="53035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5852160" cy="53035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27048"/>
            <a:ext cx="5559552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nums  = [1, 2, 3, 4, 5]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mista = [42, 'Python', True, 3.14]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vazia = []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acesso — índice começa em 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print(nums[0])        # 1  (primeiro)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print(nums[-1])       # 5  (último)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print(nums[1:3])      # [2, 3]  (de 1 até &lt;3)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print(nums[::-1])     # [5, 4, 3, 2, 1]  invertida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modificando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nums[0] = 99          # [99, 2, 3, 4, 5]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métodos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nums.append(6)        # adiciona no final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nums.insert(0, 0)     # insere na posição 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nums.remove(99)       # remove o valor 99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nums.pop()            # remove e retorna o último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nums.sort()           # ordena crescente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nums.reverse()        # inverte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print(len(nums))      # tamanho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print(sum(nums))      # soma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9875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CF0"/>
                </a:solidFill>
              </a:rPr>
              <a:t>List comprehension — jeito Python de criar listas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486400" cy="420624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5486400" cy="420624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554480"/>
            <a:ext cx="5193792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# jeito clássico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quadrados = []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for n in range(1, 6):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quadrados.append(n ** 2)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[1, 4, 9, 16, 25]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list comprehension — uma linha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quadrados = [n**2 for n in range(1, 6)]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com filtro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pares = [n for n in range(20) if n % 2 == 0]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transformação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nomes  = ['ana', 'bob', 'carlos']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maiusc = [n.upper() for n in nomes]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['ANA', 'BOB', 'CARLOS']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7424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8090"/>
                </a:solidFill>
              </a:rPr>
              <a:t>in · not in · min() · max() · sorted() funcionam em listas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A6E3E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Tuplas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28090"/>
                </a:solidFill>
              </a:rPr>
              <a:t>Tupla é como lista, mas imutável — não dá pra modificar depois de criada.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852160" cy="53035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5852160" cy="53035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27048"/>
            <a:ext cx="5559552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# criando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coordenadas = (10.5, -23.4)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rgb         = (255, 128, 0)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unituple    = (42,)           # vírgula obrigatória com 1 item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sem_paren   = 1, 2, 3         # parênteses são opcionais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acessando — igual à lista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print(coordenadas[0])   # 10.5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print(rgb[-1])          # 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NÃO pode modificar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coordenadas[0] = 99   → TypeError!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desempacotamento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x, y       = coordenadas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r, g, b    = rgb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a, *resto  = (1, 2, 3, 4)     # a=1, resto=[2,3,4]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funções que retornam múltiplos valores usam tupla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def minmax(lst):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return min(lst), max(lst)  # retorna tupla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menor, maior = minmax([3, 1, 7, 2])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print(menor, maior)     # 1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9875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CF0"/>
                </a:solidFill>
              </a:rPr>
              <a:t>Quando usar tupla vs lista?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486400" cy="123444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45720" cy="1234440"/>
          </a:xfrm>
          <a:prstGeom prst="rect">
            <a:avLst/>
          </a:prstGeom>
          <a:solidFill>
            <a:srgbClr val="4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508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8A6E"/>
                </a:solidFill>
              </a:rPr>
              <a:t>Lista  [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8562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quando a coleção pode mudar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671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8090"/>
                </a:solidFill>
              </a:rPr>
              <a:t>adicionar, remover, ordenar itens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834640"/>
            <a:ext cx="5486400" cy="1234440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834640"/>
            <a:ext cx="45720" cy="1234440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A6E3E"/>
                </a:solidFill>
              </a:rPr>
              <a:t>Tupla  (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2735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</a:rPr>
              <a:t>quando os dados são fixos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5844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8090"/>
                </a:solidFill>
              </a:rPr>
              <a:t>coordenadas, RGB, retorno de função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43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28090"/>
                </a:solidFill>
              </a:rPr>
              <a:t>Também usada como chave de dicionário — lista não pode ser chave.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864608"/>
            <a:ext cx="5486400" cy="1755648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4864608"/>
            <a:ext cx="5486400" cy="1755648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5001768"/>
            <a:ext cx="5193792" cy="1517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d = {}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d[(0, 0)] = 'origem'    # tupla como chave — OK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d[[0, 0]] = 'erro'      # lista como chave → TypeError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6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E5A8A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Dicionários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28090"/>
                </a:solidFill>
              </a:rPr>
              <a:t>Guarda pares chave: valor. Acesso pelo nome, não pelo índice.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852160" cy="53035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5852160" cy="53035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27048"/>
            <a:ext cx="5559552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aluno = {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'nome':  'Ana',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'idade': 17,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'notas': [8.5, 9.0, 7.5]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}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lendo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print(aluno['nome'])               # Ana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print(aluno.get('turma', 'N/A'))   # N/A — não explode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adicionando / modificando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aluno['turma'] = '3A'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aluno['idade'] = 18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removendo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del aluno['turma']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aluno.pop('notas')                 # remove e retorna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percorrendo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for chave, valor in aluno.items():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print(f'{chave}: {valor}')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for chave in aluno.keys():   print(chave)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for val   in aluno.values(): print(val)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verificando existência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if 'nome' in aluno: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print('tem nome')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9875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CF0"/>
                </a:solidFill>
              </a:rPr>
              <a:t>Dict comprehension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89888"/>
            <a:ext cx="5486400" cy="201168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89888"/>
            <a:ext cx="5486400" cy="201168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527048"/>
            <a:ext cx="5193792" cy="1773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quadrados = {n: n**2 for n in range(1, 6)}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{1:1, 2:4, 3:9, 4:16, 5:25}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filtrado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pares = {n: n**2 for n in range(10) if n%2==0}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CF0"/>
                </a:solidFill>
              </a:rPr>
              <a:t>Dicionários aninhados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913632"/>
            <a:ext cx="5486400" cy="27889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913632"/>
            <a:ext cx="5486400" cy="27889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050792"/>
            <a:ext cx="5193792" cy="2551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turma = {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'Ana': {'nota': 9.0, 'faltas': 2},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'Bob': {'nota': 7.5, 'faltas': 5},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}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print(turma['Ana']['nota'])    # 9.0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for nome, dados in turma.items():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print(nome, dados['nota'])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4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8A6E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Funções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28090"/>
                </a:solidFill>
              </a:rPr>
              <a:t>Evitam repetição. Tudo que você vai usar mais de uma vez, vira função.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852160" cy="53035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5852160" cy="53035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27048"/>
            <a:ext cx="5559552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def saudacao(nome):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return f'olá, {nome}!'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print(saudacao('Ana'))        # olá, Ana!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valor padrão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def potencia(base, exp=2):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return base ** exp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print(potencia(3))            # 9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print(potencia(3, 3))         # 27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múltiplos retornos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def dividir(a, b):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if b == 0: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return None, 'divisão por zero'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return a / b, 'ok'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res, status = dividir(10, 2)  # 5.0, 'ok'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*args — qualquer número de argumentos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def soma(*nums):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return sum(nums)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print(soma(1, 2, 3, 4, 5))   # 15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**kwargs — argumentos nomeados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def perfil(**dados):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for k, v in dados.items():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print(f'{k}: {v}')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perfil(nome='Ana', idade=17)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987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CF0"/>
                </a:solidFill>
              </a:rPr>
              <a:t>Escopo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89888"/>
            <a:ext cx="5486400" cy="260604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89888"/>
            <a:ext cx="5486400" cy="260604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527048"/>
            <a:ext cx="5193792" cy="2368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x = 10            # global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def funcao():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y = 20        # local — só existe aqui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print(x, y)   # acessa global: 10 20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funcao()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print(y)        # NameError — y não existe aqui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CF0"/>
                </a:solidFill>
              </a:rPr>
              <a:t>Docstring — documente suas funções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507992"/>
            <a:ext cx="5486400" cy="219456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507992"/>
            <a:ext cx="5486400" cy="219456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645152"/>
            <a:ext cx="5193792" cy="1956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def media(notas):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"""Calcula a média de uma lista de notas.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Args: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notas: lista de floats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Returns: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float com a média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"""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return sum(notas) / len(notas)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A6E3E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Lambda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28090"/>
                </a:solidFill>
              </a:rPr>
              <a:t>Função anônima de uma linha. Útil quando a lógica é simples e você vai usar uma só vez.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852160" cy="41605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5852160" cy="41605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27048"/>
            <a:ext cx="5559552" cy="3922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# def normal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def dobro(x):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return x * 2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equivalente com lambda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dobro = lambda x: x * 2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print(dobro(5))              # 10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múltiplos parâmetros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somar      = lambda a, b: a + b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hipotenusa = lambda a, b: (a**2 + b**2) ** 0.5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print(somar(3, 4))           # 7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print(hipotenusa(3, 4))      # 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6692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28090"/>
                </a:solidFill>
              </a:rPr>
              <a:t>lambda vs def — quando usar cada 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016752"/>
            <a:ext cx="5852160" cy="621792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6016752"/>
            <a:ext cx="5852160" cy="621792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6153912"/>
            <a:ext cx="55595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EC8A0"/>
                </a:solidFill>
                <a:latin typeface="Consolas"/>
              </a:rPr>
              <a:t># lambda → simples, uma vez só  |  def → complexo, reutilizável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987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CF0"/>
                </a:solidFill>
              </a:rPr>
              <a:t>Onde lambda aparece na prática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89888"/>
            <a:ext cx="5486400" cy="525780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89888"/>
            <a:ext cx="5486400" cy="525780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527048"/>
            <a:ext cx="5193792" cy="5020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nums = [1, 2, 3, 4, 5, 6, 7, 8]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map — aplica em cada elemento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dobros = list(map(lambda n: n*2, nums))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[2, 4, 6, 8, 10, 12, 14, 16]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filter — filtra com condição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pares = list(filter(lambda n: n%2==0, nums))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[2, 4, 6, 8]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sorted com key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alunos = [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{'nome': 'Carlos', 'nota': 7.5},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{'nome': 'Ana',    'nota': 9.0},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{'nome': 'Bob',    'nota': 8.2},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por_nota = sorted(alunos,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          key=lambda a: a['nota'],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          reverse=True)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Ana 9.0, Bob 8.2, Carlos 7.5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9EB5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28090"/>
                </a:solidFill>
              </a:rPr>
              <a:t>Biblioteca de análise de dados. Pense numa planilha Excel que você controla com código.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852160" cy="53035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5852160" cy="53035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27048"/>
            <a:ext cx="5559552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import pandas as pd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lendo dados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 = pd.read_csv('dados.csv')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 = pd.read_excel('planilha.xlsx')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inspecionando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df.head()          # primeiras 5 linhas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df.tail()          # últimas 5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df.info()          # tipos e nulos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df.describe()      # estatísticas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df.shape           # (linhas, colunas)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selecionando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df['nome']                 # coluna inteira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df[['nome', 'idade']]      # múltiplas colunas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df.iloc[0]                 # linha por índice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df.loc[df['idade'] &gt; 18]   # linhas por condição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limpeza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df.dropna()                # remove linhas com NaN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df.fillna(0)               # preenche NaN com 0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df['idade'] = df['idade'].astype(int)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89888"/>
            <a:ext cx="5486400" cy="53035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89888"/>
            <a:ext cx="5486400" cy="53035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527048"/>
            <a:ext cx="5193792" cy="5065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# criando do zero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 = pd.DataFrame({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'nome':  ['Ana', 'Bob', 'Carlos'],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'nota':  [9.0, 7.5, 8.2],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'turma': ['A', 'B', 'A']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})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nova coluna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df['aprovado'] = df['nota'] &gt;= 7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apply com lambda — feature engineering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df['nota_log'] = df['nota'].apply(lambda x: x**2)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groupby — agrupamento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media_turma = df.groupby('turma')['nota'].mean()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ordenando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df.sort_values('nota', ascending=False)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salvando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df.to_csv('resultado.csv', index=False)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df.to_excel('resultado.xlsx', index=False)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6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E5A8A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Bibliotecas para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28090"/>
                </a:solidFill>
              </a:rPr>
              <a:t>Python domina o mercado de IA e ML. Todas as ferramentas principais são bibliotecas Python.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11521440" cy="162763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45720" cy="1627632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9EB5"/>
                </a:solidFill>
              </a:rPr>
              <a:t>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8090"/>
                </a:solidFill>
              </a:rPr>
              <a:t>base de tudo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39696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arrays N-dimensionais, álgebra linear, operações matemáticas vetorizadas.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463040"/>
            <a:ext cx="8229600" cy="1481328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463040"/>
            <a:ext cx="8229600" cy="1481328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600200"/>
            <a:ext cx="7936992" cy="1243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EC8A0"/>
                </a:solidFill>
                <a:latin typeface="Consolas"/>
              </a:rPr>
              <a:t>import numpy as np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a = np.array([1, 2, 3])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print(a * 2)          # [2 4 6]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print(a.mean())       # 2.0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154680"/>
            <a:ext cx="11521440" cy="162763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154680"/>
            <a:ext cx="45720" cy="1627632"/>
          </a:xfrm>
          <a:prstGeom prst="rect">
            <a:avLst/>
          </a:prstGeom>
          <a:solidFill>
            <a:srgbClr val="4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278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8A6E"/>
                </a:solidFill>
              </a:rPr>
              <a:t>scikit-learn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935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8090"/>
                </a:solidFill>
              </a:rPr>
              <a:t>ML clássico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04488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classificação, regressão, clustering, pré-processamento, validação.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227832"/>
            <a:ext cx="8229600" cy="1481328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3227832"/>
            <a:ext cx="8229600" cy="1481328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3364992"/>
            <a:ext cx="7936992" cy="1243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EC8A0"/>
                </a:solidFill>
                <a:latin typeface="Consolas"/>
              </a:rPr>
              <a:t>from sklearn.ensemble import RandomForestClassifier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from sklearn.model_selection import train_test_split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X_train, X_test, y_train, y_test = train_test_split(X, y)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modelo = RandomForestClassifier()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modelo.fit(X_train, y_train)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acc = modelo.score(X_test, y_test)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919472"/>
            <a:ext cx="11521440" cy="162763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19472"/>
            <a:ext cx="45720" cy="1627632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9926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6E3E"/>
                </a:solidFill>
              </a:rPr>
              <a:t>Matplotlib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5838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8090"/>
                </a:solidFill>
              </a:rPr>
              <a:t>visualização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69280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gráficos de linha, barra, dispersão, histograma — tudo que você vai precisar ver.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4992624"/>
            <a:ext cx="8229600" cy="1481328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4992624"/>
            <a:ext cx="8229600" cy="1481328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5129784"/>
            <a:ext cx="7936992" cy="1243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EC8A0"/>
                </a:solidFill>
                <a:latin typeface="Consolas"/>
              </a:rPr>
              <a:t>import matplotlib.pyplot as plt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plt.plot([1,2,3], [4,5,6])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plt.xlabel('x'); plt.ylabel('y')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plt.title('meu gráfico')</a:t>
            </a:r>
          </a:p>
          <a:p>
            <a:r>
              <a:rPr sz="1050">
                <a:solidFill>
                  <a:srgbClr val="7EC8A0"/>
                </a:solidFill>
                <a:latin typeface="Consolas"/>
              </a:rPr>
              <a:t>plt.show()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C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45720" cy="5989320"/>
          </a:xfrm>
          <a:prstGeom prst="rect">
            <a:avLst/>
          </a:prstGeom>
          <a:solidFill>
            <a:srgbClr val="8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A4E4E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CF0"/>
                </a:solidFill>
              </a:rPr>
              <a:t>Deep Learning — PyTorch &amp; TensorFlow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28090"/>
                </a:solidFill>
              </a:rPr>
              <a:t>Quando o ML clássico não basta: redes neurais, visão computacional, NLP, geração de texto.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577840" cy="384048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45720" cy="384048"/>
          </a:xfrm>
          <a:prstGeom prst="rect">
            <a:avLst/>
          </a:prstGeom>
          <a:solidFill>
            <a:srgbClr val="8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CF0"/>
                </a:solidFill>
              </a:rPr>
              <a:t>PyTorch — preferido na pesquisa e cada vez mais em produção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5577840" cy="48463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5577840" cy="48463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965960"/>
            <a:ext cx="5285231" cy="4608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import torch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import torch.nn as nn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# rede simples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modelo = nn.Sequential(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nn.Linear(4, 16),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nn.ReLU(),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nn.Linear(16, 1)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x      = torch.randn(32, 4)      # batch de 32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saida  = modelo(x)               # forward pass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loss_fn   = nn.MSELoss()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optimizer = torch.optim.Adam(modelo.parameters())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loss = loss_fn(saida, y)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loss.backward()                  # backpropagation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optimizer.step()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389888"/>
            <a:ext cx="5806440" cy="384048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389888"/>
            <a:ext cx="45720" cy="384048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630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CF0"/>
                </a:solidFill>
              </a:rPr>
              <a:t>TensorFlow / Keras — mais simples, ótimo pra começar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828800"/>
            <a:ext cx="5806440" cy="4846320"/>
          </a:xfrm>
          <a:prstGeom prst="rect">
            <a:avLst/>
          </a:prstGeom>
          <a:solidFill>
            <a:srgbClr val="0E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828800"/>
            <a:ext cx="5806440" cy="4846320"/>
          </a:xfrm>
          <a:prstGeom prst="rect">
            <a:avLst/>
          </a:prstGeom>
          <a:noFill/>
          <a:ln w="9525">
            <a:solidFill>
              <a:srgbClr val="2E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965960"/>
            <a:ext cx="5513831" cy="4608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EC8A0"/>
                </a:solidFill>
                <a:latin typeface="Consolas"/>
              </a:rPr>
              <a:t>import tensorflow as tf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from tensorflow import keras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modelo = keras.Sequential([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keras.layers.Dense(16, activation='relu',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               input_shape=(4,)),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keras.layers.Dense(1)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])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modelo.compile(optimizer='adam',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       loss='mse')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modelo.fit(X_train, y_train,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   epochs=50,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           validation_split=0.2)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modelo.evaluate(X_test, y_test)</a:t>
            </a:r>
          </a:p>
          <a:p>
            <a:r>
              <a:rPr sz="1150">
                <a:solidFill>
                  <a:srgbClr val="7EC8A0"/>
                </a:solidFill>
                <a:latin typeface="Consolas"/>
              </a:rPr>
              <a:t>modelo.predict(novos_dados)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8ECF0"/>
                </a:solidFill>
              </a:rPr>
              <a:t>Resumo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45720" cy="347472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0241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E9EB5"/>
                </a:solidFill>
              </a:rPr>
              <a:t>01  Variáveis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nome = valor · snake_case · +=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987552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987552"/>
            <a:ext cx="45720" cy="347472"/>
          </a:xfrm>
          <a:prstGeom prst="rect">
            <a:avLst/>
          </a:prstGeom>
          <a:solidFill>
            <a:srgbClr val="4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10241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E8A6E"/>
                </a:solidFill>
              </a:rPr>
              <a:t>02  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024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int float str bool · type() · casting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389888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389888"/>
            <a:ext cx="45720" cy="347472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4264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A6E3E"/>
                </a:solidFill>
              </a:rPr>
              <a:t>03  Strings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4264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f-string · fatiamento · métodos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389888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389888"/>
            <a:ext cx="45720" cy="347472"/>
          </a:xfrm>
          <a:prstGeom prst="rect">
            <a:avLst/>
          </a:prstGeom>
          <a:solidFill>
            <a:srgbClr val="8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1" y="14264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A4E4E"/>
                </a:solidFill>
              </a:rPr>
              <a:t>04  Operadores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4264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+ - * / // % **  ·  == != &gt; &lt;  ·  and or not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92224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1792224"/>
            <a:ext cx="45720" cy="347472"/>
          </a:xfrm>
          <a:prstGeom prst="rect">
            <a:avLst/>
          </a:prstGeom>
          <a:solidFill>
            <a:srgbClr val="6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5A8A"/>
                </a:solidFill>
              </a:rPr>
              <a:t>05  Condicionais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if / elif / else · ternário · 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1792224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1792224"/>
            <a:ext cx="45720" cy="347472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1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E9EB5"/>
                </a:solidFill>
              </a:rPr>
              <a:t>06  Loops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for range() · while · break · continue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94560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2194560"/>
            <a:ext cx="45720" cy="347472"/>
          </a:xfrm>
          <a:prstGeom prst="rect">
            <a:avLst/>
          </a:prstGeom>
          <a:solidFill>
            <a:srgbClr val="4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" y="22311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E8A6E"/>
                </a:solidFill>
              </a:rPr>
              <a:t>07  Listas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22311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índices · métodos · list comprehension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2194560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2194560"/>
            <a:ext cx="45720" cy="347472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1" y="22311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A6E3E"/>
                </a:solidFill>
              </a:rPr>
              <a:t>08  Tuplas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22311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imutável · desempacotamento · chave de dict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596896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2596896"/>
            <a:ext cx="45720" cy="347472"/>
          </a:xfrm>
          <a:prstGeom prst="rect">
            <a:avLst/>
          </a:prstGeom>
          <a:solidFill>
            <a:srgbClr val="6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26334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5A8A"/>
                </a:solidFill>
              </a:rPr>
              <a:t>09  Dicionários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2633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chave: valor · .get() · .items()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59" y="2596896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59" y="2596896"/>
            <a:ext cx="45720" cy="347472"/>
          </a:xfrm>
          <a:prstGeom prst="rect">
            <a:avLst/>
          </a:prstGeom>
          <a:solidFill>
            <a:srgbClr val="4E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1" y="26334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E8A6E"/>
                </a:solidFill>
              </a:rPr>
              <a:t>10  Funções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2633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def · return · *args · **kwargs · escopo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2999232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2999232"/>
            <a:ext cx="45720" cy="347472"/>
          </a:xfrm>
          <a:prstGeom prst="rect">
            <a:avLst/>
          </a:prstGeom>
          <a:solidFill>
            <a:srgbClr val="8A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" y="30358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A6E3E"/>
                </a:solidFill>
              </a:rPr>
              <a:t>11  Lambda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30358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anônima · map() · filter() · sorted(key=…)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59" y="2999232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59" y="2999232"/>
            <a:ext cx="45720" cy="347472"/>
          </a:xfrm>
          <a:prstGeom prst="rect">
            <a:avLst/>
          </a:prstGeom>
          <a:solidFill>
            <a:srgbClr val="4E9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3951" y="30358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E9EB5"/>
                </a:solidFill>
              </a:rPr>
              <a:t>12  Pandas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30358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DataFrame · groupby · apply · lambda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401568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3401568"/>
            <a:ext cx="45720" cy="347472"/>
          </a:xfrm>
          <a:prstGeom prst="rect">
            <a:avLst/>
          </a:prstGeom>
          <a:solidFill>
            <a:srgbClr val="6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4632" y="34381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5A8A"/>
                </a:solidFill>
              </a:rPr>
              <a:t>13  ML clássico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68880" y="34381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NumPy · scikit-learn · Matplotlib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59" y="3401568"/>
            <a:ext cx="5760720" cy="347472"/>
          </a:xfrm>
          <a:prstGeom prst="rect">
            <a:avLst/>
          </a:prstGeom>
          <a:solidFill>
            <a:srgbClr val="2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59" y="3401568"/>
            <a:ext cx="45720" cy="347472"/>
          </a:xfrm>
          <a:prstGeom prst="rect">
            <a:avLst/>
          </a:prstGeom>
          <a:solidFill>
            <a:srgbClr val="8A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73951" y="34381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A4E4E"/>
                </a:solidFill>
              </a:rPr>
              <a:t>14  Deep Learning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4381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8090"/>
                </a:solidFill>
              </a:rPr>
              <a:t>PyTorch · TensorFlow/Keras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